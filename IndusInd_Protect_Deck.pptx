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E9832A-42BD-7AEB-5106-E46D552CE088}" v="107" dt="2026-07-15T06:43:59.920"/>
    <p1510:client id="{3F1EFAF6-A8BD-B0BA-1F59-3C60C6D12750}" v="32" dt="2026-07-14T19:35:06.436"/>
    <p1510:client id="{4A46D5AC-1B9C-445B-8138-F7F925C2ED5C}" v="18" dt="2026-07-14T05:59:03.521"/>
    <p1510:client id="{53A7A74D-D024-7CD5-EA8B-8B91300E25EB}" v="75" dt="2026-07-15T07:57:42.881"/>
    <p1510:client id="{7AD0C326-3C0F-28C2-AAC1-C791774DF6FC}" v="51" dt="2026-07-15T08:26:25.330"/>
    <p1510:client id="{D1669491-49A1-40BE-989C-8F0176761409}" v="2" dt="2026-07-14T07:18:02.047"/>
    <p1510:client id="{FE542095-4DDB-5826-8643-F19DF607CD7D}" v="8" dt="2026-07-14T19:49:08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F4E2EB-882C-48EA-B103-E01C8E3D73DE}" type="datetimeFigureOut"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12106-6EE5-4674-80B0-A31D31F211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3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nileshkushwaha1410.github.io/IndusInd-Protect-Capstone-PM-6-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1drv.ms/p/c/03146DF518765302/IQDzcBBqOrPSQ4mPZAGMHlj9AXi8M5QZWSk4mgS9A74PVb0?e=tIbOQ2" TargetMode="External"/><Relationship Id="rId4" Type="http://schemas.openxmlformats.org/officeDocument/2006/relationships/hyperlink" Target="https://www.linkedin.com/posts/nilesh-kushwaha-31414a396_productmanagement-ecelliitg-fintech-activity-7483064188978798592-kc1f?utm_source=share&amp;utm_medium=member_desktop&amp;rcm=ACoAAGEydUABVycgYOPZXQUjqpg5vpbtlPpCKfk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8E1B2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C79A3C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 BANK  ×  GENERAL INSURANCE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IndusInd Protect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E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unified, mobile-first insurance platform that turns coverage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E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once-a-year transaction into an everyday banking habit.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969657"/>
            <a:ext cx="1005840" cy="0"/>
          </a:xfrm>
          <a:prstGeom prst="line">
            <a:avLst/>
          </a:prstGeom>
          <a:noFill/>
          <a:ln w="31750">
            <a:solidFill>
              <a:srgbClr val="C79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Submission  |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E-Cell IIT Guwahati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Course — Capstone Project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BD2397-A321-8AD5-16C7-AAF9EE3DD1AF}"/>
              </a:ext>
            </a:extLst>
          </p:cNvPr>
          <p:cNvSpPr txBox="1"/>
          <p:nvPr/>
        </p:nvSpPr>
        <p:spPr>
          <a:xfrm>
            <a:off x="594680" y="4205766"/>
            <a:ext cx="8763920" cy="1754326"/>
          </a:xfrm>
          <a:prstGeom prst="rect">
            <a:avLst/>
          </a:prstGeom>
          <a:solidFill>
            <a:schemeClr val="bg1"/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PROTOTYPE :   </a:t>
            </a:r>
            <a:r>
              <a:rPr lang="en-US" dirty="0">
                <a:ea typeface="Calibri"/>
                <a:cs typeface="Calibri"/>
                <a:hlinkClick r:id="rId3"/>
              </a:rPr>
              <a:t>IndusInd-Protect-Capstone-PM-6-0</a:t>
            </a:r>
          </a:p>
          <a:p>
            <a:r>
              <a:rPr lang="en-US" dirty="0">
                <a:ea typeface="Calibri"/>
                <a:cs typeface="Calibri"/>
              </a:rPr>
              <a:t>                         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  <a:hlinkClick r:id="rId3"/>
              </a:rPr>
              <a:t>https://nileshkushwaha1410.github.io/IndusInd-Protect-Capstone-PM-6-0/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Linkedin</a:t>
            </a:r>
            <a:r>
              <a:rPr lang="en-US" dirty="0">
                <a:ea typeface="+mn-lt"/>
                <a:cs typeface="+mn-lt"/>
              </a:rPr>
              <a:t> Post : </a:t>
            </a:r>
            <a:r>
              <a:rPr lang="en-US" dirty="0">
                <a:ea typeface="+mn-lt"/>
                <a:cs typeface="+mn-lt"/>
                <a:hlinkClick r:id="rId4"/>
              </a:rPr>
              <a:t>Linkedin Post URL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Deck Link : </a:t>
            </a:r>
            <a:r>
              <a:rPr lang="en-US" dirty="0">
                <a:ea typeface="+mn-lt"/>
                <a:cs typeface="+mn-lt"/>
                <a:hlinkClick r:id="rId5"/>
              </a:rPr>
              <a:t>IndusInd_Protect_Deck</a:t>
            </a:r>
            <a:endParaRPr lang="en-US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is treated like a one-time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transaction, not an ongoing protection service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21992"/>
            <a:ext cx="457200" cy="457200"/>
          </a:xfrm>
          <a:prstGeom prst="ellipse">
            <a:avLst/>
          </a:prstGeom>
          <a:solidFill>
            <a:srgbClr val="F7E9E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16712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across providers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own 2-3 policies with different insurers, with no single view of what they actually have.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221992"/>
            <a:ext cx="457200" cy="457200"/>
          </a:xfrm>
          <a:prstGeom prst="ellipse">
            <a:avLst/>
          </a:prstGeom>
          <a:solidFill>
            <a:srgbClr val="F7E9E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216712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Jargon-heavy &amp; opaque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7432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IDV, co-pay, no-claim bonus — terms most customers can't decode without help.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187952"/>
            <a:ext cx="457200" cy="457200"/>
          </a:xfrm>
          <a:prstGeom prst="ellipse">
            <a:avLst/>
          </a:prstGeom>
          <a:solidFill>
            <a:srgbClr val="F7E9E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13308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feel like a fight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7091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documentation-heavy claims are the single biggest driver of non-renewal industrywide.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187952"/>
            <a:ext cx="457200" cy="457200"/>
          </a:xfrm>
          <a:prstGeom prst="ellipse">
            <a:avLst/>
          </a:prstGeom>
          <a:solidFill>
            <a:srgbClr val="F7E9E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413308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Reactive, not proactive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47091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only open an insurer's app after something has already gone wrong.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 Protect  |  Unified Insurance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underpenetrated market —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digital is where the growth 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8E1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$222B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F2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insurance market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F2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by 2026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55848" y="20116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7E9EC"/>
          </a:solidFill>
          <a:ln/>
        </p:spPr>
      </p:sp>
      <p:sp>
        <p:nvSpPr>
          <p:cNvPr id="8" name="Text 6"/>
          <p:cNvSpPr/>
          <p:nvPr/>
        </p:nvSpPr>
        <p:spPr>
          <a:xfrm>
            <a:off x="3355848" y="2148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93008" y="2788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GDP — general insurance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vs. 4% global norm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3056" y="20116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7E9EC"/>
          </a:solidFill>
          <a:ln/>
        </p:spPr>
      </p:sp>
      <p:sp>
        <p:nvSpPr>
          <p:cNvPr id="11" name="Text 9"/>
          <p:cNvSpPr/>
          <p:nvPr/>
        </p:nvSpPr>
        <p:spPr>
          <a:xfrm>
            <a:off x="6163056" y="2148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0216" y="2788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of India's online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premium pool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70264" y="201168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7E9EC"/>
          </a:solidFill>
          <a:ln/>
        </p:spPr>
      </p:sp>
      <p:sp>
        <p:nvSpPr>
          <p:cNvPr id="14" name="Text 12"/>
          <p:cNvSpPr/>
          <p:nvPr/>
        </p:nvSpPr>
        <p:spPr>
          <a:xfrm>
            <a:off x="8970264" y="2148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07424" y="2788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growth of embedded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standalone insurance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changing the game right now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109728" cy="109728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1596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IRDAI's Bima Sugam marketplace and Use-and-File norms compress time-to-market for new digital covers.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01768"/>
            <a:ext cx="109728" cy="109728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88289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Bima-ASBA and UPI AutoPay remove the payment friction that causes forgotten renewals.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568696"/>
            <a:ext cx="109728" cy="109728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44982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Tier-2/3 cities are emerging as genuine growth engines, not an afterthought — supported by vernacular digital interfaces.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 Protect  |  Unified Insurance Platform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is racing to fix claims —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owns the bank-native advantage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4023360"/>
        </p:xfrm>
        <a:graphic>
          <a:graphicData uri="http://schemas.openxmlformats.org/drawingml/2006/table">
            <a:tbl>
              <a:tblPr/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wedge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Lombard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(IL TakeCare)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Wellness + insurance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super-app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Face-scan, telematics,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self-inspection claims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Buggy claim uploads,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Radical simplicity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AI-assessed self-inspection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claims, larger hospital 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banking-data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Zero-commission D2C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claims within 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Cold-acquisition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heavy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Policybazaar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Aggregator marketplace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 reach,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13Cr+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Lead-capture funnel,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service-first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IndusInd Protect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Bank-native 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trust + data 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engagement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to prove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5321808"/>
            <a:ext cx="11064240" cy="713232"/>
          </a:xfrm>
          <a:prstGeom prst="rect">
            <a:avLst/>
          </a:prstGeom>
          <a:solidFill>
            <a:srgbClr val="F7E9EC">
              <a:alpha val="70000"/>
            </a:srgbClr>
          </a:solidFill>
          <a:ln/>
        </p:spPr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321808"/>
          <a:ext cx="11064240" cy="713232"/>
        </p:xfrm>
        <a:graphic>
          <a:graphicData uri="http://schemas.openxmlformats.org/drawingml/2006/table">
            <a:tbl>
              <a:tblPr/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IndusInd Protect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Bank-native 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trust + data 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engagement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to prove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C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 Protect  |  Unified Insurance Platform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5C1220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1188720"/>
            <a:ext cx="1280160" cy="1280160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1887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C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Priya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E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29–38  |  Salaried / small-business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E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|  Metro or Tier-2 city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C7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“I’ll deal with it when</a:t>
            </a:r>
            <a:endParaRPr lang="en-US" sz="15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C7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something happens.”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411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 PERSONA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658368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for the existing IndusInd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— not a cold insurance shopper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6344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today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3774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1-2 policies (employer health + a reactive motor policy). Has never compared or reviewed either.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23774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her banking app several times a week. Has never opened an insurer's app except to file a claim.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6344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43434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 bike renewal and found out at a traffic stop. Finds insurance jargon genuinely confusing.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4672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43434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feel covered without becoming an insurance expert. Trusts her bank far more than an unfamiliar insurer app.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5989320"/>
            <a:ext cx="6949440" cy="548640"/>
          </a:xfrm>
          <a:prstGeom prst="roundRect">
            <a:avLst>
              <a:gd name="adj" fmla="val 16667"/>
            </a:avLst>
          </a:prstGeom>
          <a:solidFill>
            <a:srgbClr val="F7E9EC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598932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persona: “First-Job Farhan” (23-27, no cover yet) — captured via an onboarding-triggered starter policy, not a separate track.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 Protect  |  Unified Insurance Platform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SIZING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bank's own customer base is the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cheapest, highest-trust growth channel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9601200" cy="960120"/>
          </a:xfrm>
          <a:prstGeom prst="roundRect">
            <a:avLst>
              <a:gd name="adj" fmla="val 9524"/>
            </a:avLst>
          </a:prstGeom>
          <a:solidFill>
            <a:srgbClr val="F7E9E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67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online insurance premium pool, 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46520" y="216712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C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$283.7M → $555.1M by 2031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48840" y="3291840"/>
            <a:ext cx="6858000" cy="960120"/>
          </a:xfrm>
          <a:prstGeom prst="roundRect">
            <a:avLst>
              <a:gd name="adj" fmla="val 9524"/>
            </a:avLst>
          </a:prstGeom>
          <a:solidFill>
            <a:srgbClr val="F7E9EC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77440" y="3749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IndusInd's active digital-banking customer base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4920" y="340156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C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Multi-million retail users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20440" y="4526280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8E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46360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 (Yr 1)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4983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8-10% conversion into ≥1 cross-sold policy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03320" y="463600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7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Lakh Active Protected Customers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underinsurance gap mirrors this opportunity: 140M Indians who need health cover don't have it, and 70M vehicles remain uninsured despite mandatory third-party motor cover.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 Protect  |  Unified Insurance Platform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should feel like a natural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of banking with IndusInd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E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customers never have to “shop for insurance” again — because their bank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E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knows what they need, reminds them before they forget, and shows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E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for them the moment something goes wrong.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8E1B2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&amp; Decide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Life-stage recommendations &amp; jargon-free comparison, powered by data the bank already has.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39776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8E1B2E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4251960"/>
            <a:ext cx="502920" cy="502920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4572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&amp; Renew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49377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every policy, across every provider — with nudges before lapse, not after.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39776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8E1B2E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4251960"/>
            <a:ext cx="502920" cy="502920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C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4572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&amp; Trust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49377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E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claims with real-time status — the core retention moment, not a support afterthought.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 Protect  |  Unified Insurance Platform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 that proves the platform is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doing its actual job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8E1B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Protected Customers (APC)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595360" y="2057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Lakh</a:t>
            </a:r>
            <a:endParaRPr lang="en-US" sz="2000" dirty="0"/>
          </a:p>
          <a:p>
            <a:pPr marL="0" indent="0" algn="r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C7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Month 6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64240" cy="310895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Month-6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digital-banking users who view a recommendation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viewers who buy or link ≥1 policy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active use of insurance dashboard (post-purchase)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of APC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rate at policy expiry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/ Claims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filed fully digitally, end-to-end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time to resolution (eligible motor/health)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48 hrs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 Protect  |  Unified Insurance Platform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the bank's warm-base advantage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— before touching cold acquisition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3520440" cy="777240"/>
          </a:xfrm>
          <a:prstGeom prst="roundRect">
            <a:avLst>
              <a:gd name="adj" fmla="val 14118"/>
            </a:avLst>
          </a:prstGeom>
          <a:solidFill>
            <a:srgbClr val="8E1B2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77440"/>
            <a:ext cx="3520440" cy="365760"/>
          </a:xfrm>
          <a:prstGeom prst="rect">
            <a:avLst/>
          </a:prstGeom>
          <a:solidFill>
            <a:srgbClr val="8E1B2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Base Activation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0-3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255264"/>
            <a:ext cx="82296" cy="82296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3145536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Score card on the banking home screen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4151376"/>
            <a:ext cx="82296" cy="82296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404164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Moment-based prompts: loan disbursal, salary onboarding, card spend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5047488"/>
            <a:ext cx="82296" cy="82296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4937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RM-assisted push for premium banking segments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19659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965960"/>
            <a:ext cx="3520440" cy="777240"/>
          </a:xfrm>
          <a:prstGeom prst="roundRect">
            <a:avLst>
              <a:gd name="adj" fmla="val 14118"/>
            </a:avLst>
          </a:prstGeom>
          <a:solidFill>
            <a:srgbClr val="F7E9EC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7680" y="2377440"/>
            <a:ext cx="3520440" cy="365760"/>
          </a:xfrm>
          <a:prstGeom prst="rect">
            <a:avLst/>
          </a:prstGeom>
          <a:solidFill>
            <a:srgbClr val="F7E9EC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20574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2628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 &amp; Trust Building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26280" y="2788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3-6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26280" y="3255264"/>
            <a:ext cx="82296" cy="82296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3145536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“Link your policies” launched aggressively, free, non-monetizing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26280" y="4151376"/>
            <a:ext cx="82296" cy="82296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404164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renewal nudges, 14 days pre-expiry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26280" y="5047488"/>
            <a:ext cx="82296" cy="82296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27" name="Text 25"/>
          <p:cNvSpPr/>
          <p:nvPr/>
        </p:nvSpPr>
        <p:spPr>
          <a:xfrm>
            <a:off x="4736592" y="4937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digital claims cohort — motor self-inspection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46720" y="196596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1965960"/>
            <a:ext cx="3520440" cy="777240"/>
          </a:xfrm>
          <a:prstGeom prst="roundRect">
            <a:avLst>
              <a:gd name="adj" fmla="val 14118"/>
            </a:avLst>
          </a:prstGeom>
          <a:solidFill>
            <a:srgbClr val="F7E9EC"/>
          </a:solidFill>
          <a:ln/>
        </p:spPr>
      </p:sp>
      <p:sp>
        <p:nvSpPr>
          <p:cNvPr id="30" name="Shape 28"/>
          <p:cNvSpPr/>
          <p:nvPr/>
        </p:nvSpPr>
        <p:spPr>
          <a:xfrm>
            <a:off x="8046720" y="2377440"/>
            <a:ext cx="3520440" cy="365760"/>
          </a:xfrm>
          <a:prstGeom prst="rect">
            <a:avLst/>
          </a:prstGeom>
          <a:solidFill>
            <a:srgbClr val="F7E9EC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205740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75320" y="22860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 Expansion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75320" y="2788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6-12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75320" y="3255264"/>
            <a:ext cx="82296" cy="82296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35" name="Text 33"/>
          <p:cNvSpPr/>
          <p:nvPr/>
        </p:nvSpPr>
        <p:spPr>
          <a:xfrm>
            <a:off x="8485632" y="3145536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assistance, telemedicine bundled as retention perks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75320" y="4151376"/>
            <a:ext cx="82296" cy="82296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37" name="Text 35"/>
          <p:cNvSpPr/>
          <p:nvPr/>
        </p:nvSpPr>
        <p:spPr>
          <a:xfrm>
            <a:off x="8485632" y="404164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city push with vernacular chat support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275320" y="5047488"/>
            <a:ext cx="82296" cy="82296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39" name="Text 37"/>
          <p:cNvSpPr/>
          <p:nvPr/>
        </p:nvSpPr>
        <p:spPr>
          <a:xfrm>
            <a:off x="8485632" y="49377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mechanics off fast-claim experiences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 Protect  |  Unified Insurance Platform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Trust-building features ship before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monetizing 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F7E9EC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8E1B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392424"/>
            <a:ext cx="73152" cy="73152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264408"/>
            <a:ext cx="2039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 (view + link policies)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4306824"/>
            <a:ext cx="73152" cy="73152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4178808"/>
            <a:ext cx="2039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Score card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5221224"/>
            <a:ext cx="73152" cy="73152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5093208"/>
            <a:ext cx="2039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motor + health cross-sell flow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55848" y="2011680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38728" y="2194560"/>
            <a:ext cx="502920" cy="502920"/>
          </a:xfrm>
          <a:prstGeom prst="ellipse">
            <a:avLst/>
          </a:prstGeom>
          <a:solidFill>
            <a:srgbClr val="8E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3538728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38728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Retention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538728" y="3392424"/>
            <a:ext cx="73152" cy="73152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19" name="Text 17"/>
          <p:cNvSpPr/>
          <p:nvPr/>
        </p:nvSpPr>
        <p:spPr>
          <a:xfrm>
            <a:off x="3739896" y="3264408"/>
            <a:ext cx="2039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renewal engine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38728" y="4306824"/>
            <a:ext cx="73152" cy="73152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21" name="Text 19"/>
          <p:cNvSpPr/>
          <p:nvPr/>
        </p:nvSpPr>
        <p:spPr>
          <a:xfrm>
            <a:off x="3739896" y="4178808"/>
            <a:ext cx="2039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claims MVP (motor self-inspection)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38728" y="5221224"/>
            <a:ext cx="73152" cy="73152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23" name="Text 21"/>
          <p:cNvSpPr/>
          <p:nvPr/>
        </p:nvSpPr>
        <p:spPr>
          <a:xfrm>
            <a:off x="3739896" y="5093208"/>
            <a:ext cx="2039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language support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63056" y="2011680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F7E9EC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45936" y="2194560"/>
            <a:ext cx="502920" cy="502920"/>
          </a:xfrm>
          <a:prstGeom prst="ellipse">
            <a:avLst/>
          </a:prstGeom>
          <a:solidFill>
            <a:srgbClr val="8E1B2E"/>
          </a:solidFill>
          <a:ln/>
        </p:spPr>
      </p:sp>
      <p:sp>
        <p:nvSpPr>
          <p:cNvPr id="26" name="Text 24"/>
          <p:cNvSpPr/>
          <p:nvPr/>
        </p:nvSpPr>
        <p:spPr>
          <a:xfrm>
            <a:off x="6345936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45936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 &amp; Depth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345936" y="3392424"/>
            <a:ext cx="73152" cy="73152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29" name="Text 27"/>
          <p:cNvSpPr/>
          <p:nvPr/>
        </p:nvSpPr>
        <p:spPr>
          <a:xfrm>
            <a:off x="6547104" y="3264408"/>
            <a:ext cx="2039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/ telemedicine bundling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45936" y="4306824"/>
            <a:ext cx="73152" cy="73152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31" name="Text 29"/>
          <p:cNvSpPr/>
          <p:nvPr/>
        </p:nvSpPr>
        <p:spPr>
          <a:xfrm>
            <a:off x="6547104" y="4178808"/>
            <a:ext cx="2039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micro-policy at onboarding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45936" y="5221224"/>
            <a:ext cx="73152" cy="73152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33" name="Text 31"/>
          <p:cNvSpPr/>
          <p:nvPr/>
        </p:nvSpPr>
        <p:spPr>
          <a:xfrm>
            <a:off x="6547104" y="5093208"/>
            <a:ext cx="2039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insurance education assistant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970264" y="2011680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53144" y="2194560"/>
            <a:ext cx="502920" cy="502920"/>
          </a:xfrm>
          <a:prstGeom prst="ellipse">
            <a:avLst/>
          </a:prstGeom>
          <a:solidFill>
            <a:srgbClr val="8E1B2E"/>
          </a:solidFill>
          <a:ln/>
        </p:spPr>
      </p:sp>
      <p:sp>
        <p:nvSpPr>
          <p:cNvPr id="36" name="Text 34"/>
          <p:cNvSpPr/>
          <p:nvPr/>
        </p:nvSpPr>
        <p:spPr>
          <a:xfrm>
            <a:off x="9153144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153144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Intelligence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9153144" y="3392424"/>
            <a:ext cx="73152" cy="73152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39" name="Text 37"/>
          <p:cNvSpPr/>
          <p:nvPr/>
        </p:nvSpPr>
        <p:spPr>
          <a:xfrm>
            <a:off x="9354312" y="3264408"/>
            <a:ext cx="2039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Life-stage personalization engine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153144" y="4306824"/>
            <a:ext cx="73152" cy="73152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41" name="Text 39"/>
          <p:cNvSpPr/>
          <p:nvPr/>
        </p:nvSpPr>
        <p:spPr>
          <a:xfrm>
            <a:off x="9354312" y="4178808"/>
            <a:ext cx="2039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fraud-detection layer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153144" y="5221224"/>
            <a:ext cx="73152" cy="73152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43" name="Text 41"/>
          <p:cNvSpPr/>
          <p:nvPr/>
        </p:nvSpPr>
        <p:spPr>
          <a:xfrm>
            <a:off x="9354312" y="5093208"/>
            <a:ext cx="2039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city geo-expansion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 Protect  |  Unified Insurance Platform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Priya's journey — from disengaged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policyholder to protected advocate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755648" cy="265176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7864" y="2560320"/>
            <a:ext cx="457200" cy="457200"/>
          </a:xfrm>
          <a:prstGeom prst="ellipse">
            <a:avLst/>
          </a:prstGeom>
          <a:solidFill>
            <a:srgbClr val="F7E9EC"/>
          </a:solidFill>
          <a:ln/>
        </p:spPr>
      </p:sp>
      <p:sp>
        <p:nvSpPr>
          <p:cNvPr id="6" name="Text 4"/>
          <p:cNvSpPr/>
          <p:nvPr/>
        </p:nvSpPr>
        <p:spPr>
          <a:xfrm>
            <a:off x="1197864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312724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6656" y="352044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Score card on banking home screen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13432" y="2788920"/>
            <a:ext cx="109728" cy="0"/>
          </a:xfrm>
          <a:prstGeom prst="line">
            <a:avLst/>
          </a:prstGeom>
          <a:noFill/>
          <a:ln w="19050">
            <a:solidFill>
              <a:srgbClr val="C79A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2304" y="2377440"/>
            <a:ext cx="1755648" cy="265176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81528" y="2560320"/>
            <a:ext cx="457200" cy="457200"/>
          </a:xfrm>
          <a:prstGeom prst="ellipse">
            <a:avLst/>
          </a:prstGeom>
          <a:solidFill>
            <a:srgbClr val="F7E9EC"/>
          </a:solidFill>
          <a:ln/>
        </p:spPr>
      </p:sp>
      <p:sp>
        <p:nvSpPr>
          <p:cNvPr id="12" name="Text 10"/>
          <p:cNvSpPr/>
          <p:nvPr/>
        </p:nvSpPr>
        <p:spPr>
          <a:xfrm>
            <a:off x="3081528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42032" y="312724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60320" y="352044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recommendations, no fresh form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97096" y="2788920"/>
            <a:ext cx="109728" cy="0"/>
          </a:xfrm>
          <a:prstGeom prst="line">
            <a:avLst/>
          </a:prstGeom>
          <a:noFill/>
          <a:ln w="19050">
            <a:solidFill>
              <a:srgbClr val="C79A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15968" y="2377440"/>
            <a:ext cx="1755648" cy="265176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65192" y="2560320"/>
            <a:ext cx="457200" cy="457200"/>
          </a:xfrm>
          <a:prstGeom prst="ellipse">
            <a:avLst/>
          </a:prstGeom>
          <a:solidFill>
            <a:srgbClr val="F7E9EC"/>
          </a:solidFill>
          <a:ln/>
        </p:spPr>
      </p:sp>
      <p:sp>
        <p:nvSpPr>
          <p:cNvPr id="18" name="Text 16"/>
          <p:cNvSpPr/>
          <p:nvPr/>
        </p:nvSpPr>
        <p:spPr>
          <a:xfrm>
            <a:off x="4965192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25696" y="312724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/ Link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43984" y="352044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buy, or free policy linking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2788920"/>
            <a:ext cx="109728" cy="0"/>
          </a:xfrm>
          <a:prstGeom prst="line">
            <a:avLst/>
          </a:prstGeom>
          <a:noFill/>
          <a:ln w="19050">
            <a:solidFill>
              <a:srgbClr val="C79A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9632" y="2377440"/>
            <a:ext cx="1755648" cy="265176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48856" y="2560320"/>
            <a:ext cx="457200" cy="457200"/>
          </a:xfrm>
          <a:prstGeom prst="ellipse">
            <a:avLst/>
          </a:prstGeom>
          <a:solidFill>
            <a:srgbClr val="F7E9EC"/>
          </a:solidFill>
          <a:ln/>
        </p:spPr>
      </p:sp>
      <p:sp>
        <p:nvSpPr>
          <p:cNvPr id="24" name="Text 22"/>
          <p:cNvSpPr/>
          <p:nvPr/>
        </p:nvSpPr>
        <p:spPr>
          <a:xfrm>
            <a:off x="6848856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312724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27648" y="352044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nudge, one-tap pay, 14 days out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64424" y="2788920"/>
            <a:ext cx="109728" cy="0"/>
          </a:xfrm>
          <a:prstGeom prst="line">
            <a:avLst/>
          </a:prstGeom>
          <a:noFill/>
          <a:ln w="19050">
            <a:solidFill>
              <a:srgbClr val="C79A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83296" y="2377440"/>
            <a:ext cx="1755648" cy="2651760"/>
          </a:xfrm>
          <a:prstGeom prst="roundRect">
            <a:avLst>
              <a:gd name="adj" fmla="val 5208"/>
            </a:avLst>
          </a:prstGeom>
          <a:solidFill>
            <a:srgbClr val="8E1B2E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2520" y="2560320"/>
            <a:ext cx="457200" cy="457200"/>
          </a:xfrm>
          <a:prstGeom prst="ellipse">
            <a:avLst/>
          </a:prstGeom>
          <a:solidFill>
            <a:srgbClr val="C79A3C"/>
          </a:solidFill>
          <a:ln/>
        </p:spPr>
      </p:sp>
      <p:sp>
        <p:nvSpPr>
          <p:cNvPr id="30" name="Text 28"/>
          <p:cNvSpPr/>
          <p:nvPr/>
        </p:nvSpPr>
        <p:spPr>
          <a:xfrm>
            <a:off x="87325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93024" y="312724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11312" y="352044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F2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Self-inspection video, sub-48hr resolution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848088" y="2788920"/>
            <a:ext cx="109728" cy="0"/>
          </a:xfrm>
          <a:prstGeom prst="line">
            <a:avLst/>
          </a:prstGeom>
          <a:noFill/>
          <a:ln w="19050">
            <a:solidFill>
              <a:srgbClr val="C79A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66960" y="2377440"/>
            <a:ext cx="1755648" cy="2651760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616184" y="2560320"/>
            <a:ext cx="457200" cy="457200"/>
          </a:xfrm>
          <a:prstGeom prst="ellipse">
            <a:avLst/>
          </a:prstGeom>
          <a:solidFill>
            <a:srgbClr val="F7E9EC"/>
          </a:solidFill>
          <a:ln/>
        </p:spPr>
      </p:sp>
      <p:sp>
        <p:nvSpPr>
          <p:cNvPr id="36" name="Text 34"/>
          <p:cNvSpPr/>
          <p:nvPr/>
        </p:nvSpPr>
        <p:spPr>
          <a:xfrm>
            <a:off x="10616184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76688" y="3127248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Advocacy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94976" y="352044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claim prompts an organic referral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touchpoint requires less effort from Priya than the equivalent step with any competitor — because the bank already has the data others have to ask for.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 Protect  |  Unified Insurance Platform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USER FLOWS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flows carry the entire product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rgbClr val="F7E9E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&amp; Buy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77640" y="2057400"/>
            <a:ext cx="7452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Home → Protection Score → Recommendation → Policy Detail → Pre-filled Purchase → Payment →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27832"/>
            <a:ext cx="548640" cy="548640"/>
          </a:xfrm>
          <a:prstGeom prst="ellipse">
            <a:avLst/>
          </a:prstGeom>
          <a:solidFill>
            <a:srgbClr val="F7E9E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13639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a Policy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77640" y="3136392"/>
            <a:ext cx="7452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Add Policy → Select insurer / upload doc → Auto-extract details → Appears on unified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23944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306824"/>
            <a:ext cx="548640" cy="548640"/>
          </a:xfrm>
          <a:prstGeom prst="ellipse">
            <a:avLst/>
          </a:prstGeom>
          <a:solidFill>
            <a:srgbClr val="F7E9E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068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21538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977640" y="4215384"/>
            <a:ext cx="7452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nudge (T-14 days) → Deep link to pre-filled quote → One-tap UPI payment → Confirmation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202936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385816"/>
            <a:ext cx="548640" cy="548640"/>
          </a:xfrm>
          <a:prstGeom prst="ellipse">
            <a:avLst/>
          </a:prstGeom>
          <a:solidFill>
            <a:srgbClr val="F7E9E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858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5294376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977640" y="5294376"/>
            <a:ext cx="7452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4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File Claim → Select policy → Guided self-inspection → Real-time status tracker → Resolution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 Protect  |  Unified Insurance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PRIORITIZATION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 scoring: trust-and-habit features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lead, claims automation earns its place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42062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 Score card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renewal nudges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Pre-filled cross-sell purchase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self-inspection claims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plain-language assistant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 perk bundling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Personalization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4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= trust &amp; habit features + one monetizing flow, shipped first. Claims automation is P1 — it needs real insurer SLA partnerships to be honest, not just fast-looking.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 Protect  |  Unified Insurance Platform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15-screen clickable prototype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8E1B2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31720"/>
            <a:ext cx="2606040" cy="365760"/>
          </a:xfrm>
          <a:prstGeom prst="rect">
            <a:avLst/>
          </a:prstGeom>
          <a:solidFill>
            <a:srgbClr val="8E1B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&amp; Decide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7E9E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80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Home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447288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7E9E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472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Score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4014216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7E9E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142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Feed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581144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7E9E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5811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Detail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55848" y="2011680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55848" y="201168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8E1B2E"/>
          </a:solidFill>
          <a:ln/>
        </p:spPr>
      </p:sp>
      <p:sp>
        <p:nvSpPr>
          <p:cNvPr id="18" name="Shape 16"/>
          <p:cNvSpPr/>
          <p:nvPr/>
        </p:nvSpPr>
        <p:spPr>
          <a:xfrm>
            <a:off x="3355848" y="2331720"/>
            <a:ext cx="2606040" cy="365760"/>
          </a:xfrm>
          <a:prstGeom prst="rect">
            <a:avLst/>
          </a:prstGeom>
          <a:solidFill>
            <a:srgbClr val="8E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3538728" y="20116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&amp; Renew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538728" y="288036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7E9EC"/>
          </a:solidFill>
          <a:ln/>
        </p:spPr>
      </p:sp>
      <p:sp>
        <p:nvSpPr>
          <p:cNvPr id="21" name="Text 19"/>
          <p:cNvSpPr/>
          <p:nvPr/>
        </p:nvSpPr>
        <p:spPr>
          <a:xfrm>
            <a:off x="3675888" y="2880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Form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38728" y="3447288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7E9EC"/>
          </a:solidFill>
          <a:ln/>
        </p:spPr>
      </p:sp>
      <p:sp>
        <p:nvSpPr>
          <p:cNvPr id="23" name="Text 21"/>
          <p:cNvSpPr/>
          <p:nvPr/>
        </p:nvSpPr>
        <p:spPr>
          <a:xfrm>
            <a:off x="3675888" y="34472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38728" y="4014216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7E9EC"/>
          </a:solidFill>
          <a:ln/>
        </p:spPr>
      </p:sp>
      <p:sp>
        <p:nvSpPr>
          <p:cNvPr id="25" name="Text 23"/>
          <p:cNvSpPr/>
          <p:nvPr/>
        </p:nvSpPr>
        <p:spPr>
          <a:xfrm>
            <a:off x="3675888" y="40142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38728" y="4581144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7E9EC"/>
          </a:solidFill>
          <a:ln/>
        </p:spPr>
      </p:sp>
      <p:sp>
        <p:nvSpPr>
          <p:cNvPr id="27" name="Text 25"/>
          <p:cNvSpPr/>
          <p:nvPr/>
        </p:nvSpPr>
        <p:spPr>
          <a:xfrm>
            <a:off x="3675888" y="45811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 Policy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38728" y="5148072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7E9EC"/>
          </a:solidFill>
          <a:ln/>
        </p:spPr>
      </p:sp>
      <p:sp>
        <p:nvSpPr>
          <p:cNvPr id="29" name="Text 27"/>
          <p:cNvSpPr/>
          <p:nvPr/>
        </p:nvSpPr>
        <p:spPr>
          <a:xfrm>
            <a:off x="3675888" y="5148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Renewal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2011680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63056" y="201168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8E1B2E"/>
          </a:solidFill>
          <a:ln/>
        </p:spPr>
      </p:sp>
      <p:sp>
        <p:nvSpPr>
          <p:cNvPr id="32" name="Shape 30"/>
          <p:cNvSpPr/>
          <p:nvPr/>
        </p:nvSpPr>
        <p:spPr>
          <a:xfrm>
            <a:off x="6163056" y="2331720"/>
            <a:ext cx="2606040" cy="365760"/>
          </a:xfrm>
          <a:prstGeom prst="rect">
            <a:avLst/>
          </a:prstGeom>
          <a:solidFill>
            <a:srgbClr val="8E1B2E"/>
          </a:solidFill>
          <a:ln/>
        </p:spPr>
      </p:sp>
      <p:sp>
        <p:nvSpPr>
          <p:cNvPr id="33" name="Text 31"/>
          <p:cNvSpPr/>
          <p:nvPr/>
        </p:nvSpPr>
        <p:spPr>
          <a:xfrm>
            <a:off x="6345936" y="20116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&amp; Trust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345936" y="288036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7E9EC"/>
          </a:solidFill>
          <a:ln/>
        </p:spPr>
      </p:sp>
      <p:sp>
        <p:nvSpPr>
          <p:cNvPr id="35" name="Text 33"/>
          <p:cNvSpPr/>
          <p:nvPr/>
        </p:nvSpPr>
        <p:spPr>
          <a:xfrm>
            <a:off x="6483096" y="2880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 Claim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45936" y="3447288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7E9EC"/>
          </a:solidFill>
          <a:ln/>
        </p:spPr>
      </p:sp>
      <p:sp>
        <p:nvSpPr>
          <p:cNvPr id="37" name="Text 35"/>
          <p:cNvSpPr/>
          <p:nvPr/>
        </p:nvSpPr>
        <p:spPr>
          <a:xfrm>
            <a:off x="6483096" y="34472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Self-Inspection Capture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45936" y="4014216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7E9EC"/>
          </a:solidFill>
          <a:ln/>
        </p:spPr>
      </p:sp>
      <p:sp>
        <p:nvSpPr>
          <p:cNvPr id="39" name="Text 37"/>
          <p:cNvSpPr/>
          <p:nvPr/>
        </p:nvSpPr>
        <p:spPr>
          <a:xfrm>
            <a:off x="6483096" y="40142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Status Tracker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970264" y="2011680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70264" y="201168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C79A3C"/>
          </a:solidFill>
          <a:ln/>
        </p:spPr>
      </p:sp>
      <p:sp>
        <p:nvSpPr>
          <p:cNvPr id="42" name="Shape 40"/>
          <p:cNvSpPr/>
          <p:nvPr/>
        </p:nvSpPr>
        <p:spPr>
          <a:xfrm>
            <a:off x="8970264" y="2331720"/>
            <a:ext cx="2606040" cy="365760"/>
          </a:xfrm>
          <a:prstGeom prst="rect">
            <a:avLst/>
          </a:prstGeom>
          <a:solidFill>
            <a:srgbClr val="C79A3C"/>
          </a:solidFill>
          <a:ln/>
        </p:spPr>
      </p:sp>
      <p:sp>
        <p:nvSpPr>
          <p:cNvPr id="43" name="Text 41"/>
          <p:cNvSpPr/>
          <p:nvPr/>
        </p:nvSpPr>
        <p:spPr>
          <a:xfrm>
            <a:off x="9153144" y="201168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153144" y="288036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BF3E1"/>
          </a:solidFill>
          <a:ln/>
        </p:spPr>
      </p:sp>
      <p:sp>
        <p:nvSpPr>
          <p:cNvPr id="45" name="Text 43"/>
          <p:cNvSpPr/>
          <p:nvPr/>
        </p:nvSpPr>
        <p:spPr>
          <a:xfrm>
            <a:off x="9290304" y="2880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153144" y="3447288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BF3E1"/>
          </a:solidFill>
          <a:ln/>
        </p:spPr>
      </p:sp>
      <p:sp>
        <p:nvSpPr>
          <p:cNvPr id="47" name="Text 45"/>
          <p:cNvSpPr/>
          <p:nvPr/>
        </p:nvSpPr>
        <p:spPr>
          <a:xfrm>
            <a:off x="9290304" y="34472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Nudge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153144" y="4014216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BF3E1"/>
          </a:solidFill>
          <a:ln/>
        </p:spPr>
      </p:sp>
      <p:sp>
        <p:nvSpPr>
          <p:cNvPr id="49" name="Text 47"/>
          <p:cNvSpPr/>
          <p:nvPr/>
        </p:nvSpPr>
        <p:spPr>
          <a:xfrm>
            <a:off x="9290304" y="40142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Perks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screens total, deployed via GitHub Pages — 12 core flow screens plus 3 Bonus screens (AI-powered experiences, personalization engine, ecosystem monetization). See prototype link in the appendix / submission notes.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 Protect  |  Unified Insurance Platform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7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to hold true for this to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8E1B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must trust the bank using financial data for recommendations — opt-in and transparent.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96596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8E1B2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1031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execution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0" y="2468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competitor's weak point is claims reliability. If IndusInd isn't genuinely faster, retention collapses.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8E1B2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947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habit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41605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may default to old buying habits. Lead with the free “link policies” feature to earn trust first.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365760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8E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7947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dependency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41605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A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Multi-insurer aggregation is shaped by IRDAI corporate-agency rules that can change.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thesis: IndusInd doesn't need to out-build Digit's AI or out-market Policybazaar's reach on day one — it needs to out-trust and out-integrate them inside an ecosystem customers already log into every week.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IndusInd Protect  |  Unified Insurance Platform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dusInd_Protect_Demo">
            <a:hlinkClick r:id="" action="ppaction://media"/>
            <a:extLst>
              <a:ext uri="{FF2B5EF4-FFF2-40B4-BE49-F238E27FC236}">
                <a16:creationId xmlns:a16="http://schemas.microsoft.com/office/drawing/2014/main" id="{865C1556-2664-3F4F-AD61-A77658CE433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517" y="-3627"/>
            <a:ext cx="12184740" cy="68652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23406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IndusInd_Protect_Deck</dc:title>
  <dc:creator>Nilesh Kushwaha</dc:creator>
  <cp:revision>87</cp:revision>
  <dcterms:created xsi:type="dcterms:W3CDTF">2026-07-14T05:00:10Z</dcterms:created>
  <dcterms:modified xsi:type="dcterms:W3CDTF">2026-07-15T08:27:28Z</dcterms:modified>
</cp:coreProperties>
</file>